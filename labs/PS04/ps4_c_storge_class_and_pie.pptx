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17" r:id="rId2"/>
    <p:sldId id="301" r:id="rId3"/>
    <p:sldId id="325" r:id="rId4"/>
    <p:sldId id="326" r:id="rId5"/>
    <p:sldId id="327" r:id="rId6"/>
    <p:sldId id="328" r:id="rId7"/>
    <p:sldId id="329" r:id="rId8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85039" autoAdjust="0"/>
  </p:normalViewPr>
  <p:slideViewPr>
    <p:cSldViewPr>
      <p:cViewPr varScale="1">
        <p:scale>
          <a:sx n="70" d="100"/>
          <a:sy n="70" d="100"/>
        </p:scale>
        <p:origin x="1771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B4854-ED12-45E6-BDDF-2CEDC56E1AC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4B084-B28C-4A61-9007-F9DCEF814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66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E0BA8E-2FD5-4971-A059-D12174D3FA3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A858598-EBB5-4925-BD7A-0DF7D94E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4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58598-EBB5-4925-BD7A-0DF7D94EAE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02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58598-EBB5-4925-BD7A-0DF7D94EAE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69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9F447-06F2-B218-439C-405C29EB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5D164-9A7A-8915-4211-BDF841675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8F94F-CD4E-BB30-737C-3224C6396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FE7DB-D0CF-5A72-CC17-1D8B06211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58598-EBB5-4925-BD7A-0DF7D94EAE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51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811F8-F7C4-3BDB-37D5-45BF8022C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E2ECE-95FA-D8FA-3BDD-A4BC47BC9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9BC63-93E8-C78C-09E1-436B2E1E1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F9929-203D-09B7-D162-FB42F8692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58598-EBB5-4925-BD7A-0DF7D94EAE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03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D3C65-38D4-29D7-41DC-3C104BB03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56936B-D786-6E22-CFE2-52D775786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DC964-EDD5-230B-62FC-AA4628598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A4066-063B-D090-0245-0DBF27213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58598-EBB5-4925-BD7A-0DF7D94EAE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14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 txBox="1">
            <a:spLocks noChangeArrowheads="1"/>
          </p:cNvSpPr>
          <p:nvPr userDrawn="1"/>
        </p:nvSpPr>
        <p:spPr>
          <a:xfrm>
            <a:off x="7239000" y="6553200"/>
            <a:ext cx="1905000" cy="304800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1EC5980-C722-42E4-ADC6-D097CFB9C5D9}" type="slidenum">
              <a:rPr lang="en-US" altLang="en-US" sz="1600" smtClean="0"/>
              <a:pPr>
                <a:defRPr/>
              </a:pPr>
              <a:t>‹#›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47764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1143000" indent="-228600">
              <a:buFont typeface="Wingdings" panose="05000000000000000000" pitchFamily="2" charset="2"/>
              <a:buChar char="§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6"/>
          <p:cNvSpPr txBox="1">
            <a:spLocks noChangeArrowheads="1"/>
          </p:cNvSpPr>
          <p:nvPr userDrawn="1"/>
        </p:nvSpPr>
        <p:spPr>
          <a:xfrm>
            <a:off x="7239000" y="6553200"/>
            <a:ext cx="1905000" cy="304800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1EC5980-C722-42E4-ADC6-D097CFB9C5D9}" type="slidenum">
              <a:rPr lang="en-US" altLang="en-US" sz="1600" smtClean="0"/>
              <a:pPr>
                <a:defRPr/>
              </a:pPr>
              <a:t>‹#›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55408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FC5BE1-9A39-41B2-8E41-5764CFBAF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82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FC5BE1-9A39-41B2-8E41-5764CFBAF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0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FC5BE1-9A39-41B2-8E41-5764CFBAF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54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FC5BE1-9A39-41B2-8E41-5764CFBAF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68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FC5BE1-9A39-41B2-8E41-5764CFBAF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14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FC5BE1-9A39-41B2-8E41-5764CFBAF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4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FC5BE1-9A39-41B2-8E41-5764CFBAF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8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FC5BE1-9A39-41B2-8E41-5764CFBAF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00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FC5BE1-9A39-41B2-8E41-5764CFBAF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9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55CE6-C612-43CD-8C0A-8E8ADFEDF2C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 txBox="1">
            <a:spLocks noChangeArrowheads="1"/>
          </p:cNvSpPr>
          <p:nvPr userDrawn="1"/>
        </p:nvSpPr>
        <p:spPr>
          <a:xfrm>
            <a:off x="7239000" y="6553200"/>
            <a:ext cx="1905000" cy="304800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1EC5980-C722-42E4-ADC6-D097CFB9C5D9}" type="slidenum">
              <a:rPr lang="en-US" altLang="en-US" sz="1600" smtClean="0"/>
              <a:pPr>
                <a:defRPr/>
              </a:pPr>
              <a:t>‹#›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4439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US" dirty="0"/>
              <a:t> storage Class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3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Programming API Perspective: C Storage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sz="3100" dirty="0"/>
              <a:t>A </a:t>
            </a:r>
            <a:r>
              <a:rPr lang="en-US" sz="3100" dirty="0">
                <a:solidFill>
                  <a:srgbClr val="C00000"/>
                </a:solidFill>
              </a:rPr>
              <a:t>Storage Class (SC) </a:t>
            </a:r>
            <a:r>
              <a:rPr lang="en-US" sz="3100" dirty="0"/>
              <a:t>defines the scope, life-time, and physical location of a variable and precedes the variable name, e.g. </a:t>
            </a:r>
            <a:r>
              <a:rPr lang="en-US" sz="3100" i="1" dirty="0"/>
              <a:t>static </a:t>
            </a:r>
            <a:r>
              <a:rPr lang="en-US" sz="3100" i="1" dirty="0" err="1"/>
              <a:t>int</a:t>
            </a:r>
            <a:r>
              <a:rPr lang="en-US" sz="3100" i="1" dirty="0"/>
              <a:t> count</a:t>
            </a:r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en-US" i="1" dirty="0"/>
              <a:t>Auto</a:t>
            </a:r>
            <a:r>
              <a:rPr lang="en-US" dirty="0"/>
              <a:t>: the default storage class for all local variables </a:t>
            </a:r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en-US" i="1" dirty="0"/>
              <a:t>Static</a:t>
            </a:r>
            <a:r>
              <a:rPr lang="en-US" dirty="0"/>
              <a:t>: used to keep a local variable in existence during the life-time of the program (instead of creating and destroying it each time the function is called and exits)</a:t>
            </a:r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en-US" i="1" dirty="0"/>
              <a:t>Extern</a:t>
            </a:r>
            <a:r>
              <a:rPr lang="en-US" dirty="0"/>
              <a:t>: used to give a reference of a global variable that is visible to ALL the program files</a:t>
            </a:r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en-US" i="1" dirty="0"/>
              <a:t>Register</a:t>
            </a:r>
            <a:r>
              <a:rPr lang="en-US" dirty="0"/>
              <a:t>: used to define local variables that </a:t>
            </a:r>
            <a:r>
              <a:rPr lang="en-US" b="1" dirty="0">
                <a:solidFill>
                  <a:srgbClr val="FF0000"/>
                </a:solidFill>
              </a:rPr>
              <a:t>should</a:t>
            </a:r>
            <a:r>
              <a:rPr lang="en-US" dirty="0"/>
              <a:t> be stored in a register instead of RAM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916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96CD1-BE07-BB98-1EB7-12AABD5A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D6C0-1D14-C02C-FDFA-C72125F3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1143000"/>
          </a:xfrm>
        </p:spPr>
        <p:txBody>
          <a:bodyPr>
            <a:normAutofit/>
          </a:bodyPr>
          <a:lstStyle/>
          <a:p>
            <a:r>
              <a:rPr lang="en-US" dirty="0"/>
              <a:t>Auto and Static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98CCF-3E32-80C3-FA3E-1B26E6702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8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3100" dirty="0"/>
              <a:t>Code</a:t>
            </a:r>
            <a:endParaRPr lang="en-US" sz="3100" i="1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CE21A-1732-17C1-1BC7-F796257F4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3" y="2286000"/>
            <a:ext cx="8053579" cy="403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233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9CE747-C5BF-B89D-FBDF-0C4D1C4F1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68984-019C-BB50-9FD1-789B05B13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40" y="1600200"/>
            <a:ext cx="6827691" cy="106682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9D4DB6-7DFE-5AC7-8BC3-970442050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24200"/>
            <a:ext cx="8305800" cy="160019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GB" dirty="0"/>
              <a:t>Note:</a:t>
            </a:r>
          </a:p>
          <a:p>
            <a:pPr marL="457200" lvl="1" indent="0">
              <a:buNone/>
            </a:pPr>
            <a:r>
              <a:rPr lang="en-GB" dirty="0"/>
              <a:t>- static variable start at 5 </a:t>
            </a:r>
          </a:p>
          <a:p>
            <a:pPr marL="457200" lvl="1" indent="0">
              <a:buNone/>
            </a:pPr>
            <a:r>
              <a:rPr lang="en-GB" dirty="0"/>
              <a:t>- auto variable start at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93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D828B-7E78-7B92-EAA8-93C2EE65D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12EB-0ADF-0D8A-D8E5-631085626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1143000"/>
          </a:xfrm>
        </p:spPr>
        <p:txBody>
          <a:bodyPr>
            <a:normAutofit/>
          </a:bodyPr>
          <a:lstStyle/>
          <a:p>
            <a:r>
              <a:rPr lang="en-US" dirty="0"/>
              <a:t>Auto and Extern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56CE6-9DF9-60DA-BA82-F7DAD196B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8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3100" dirty="0"/>
              <a:t>Code</a:t>
            </a:r>
            <a:endParaRPr lang="en-US" sz="3100" i="1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AE822-9D74-8983-7675-347330789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79" y="2773988"/>
            <a:ext cx="8081841" cy="248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501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38302-C7B5-CB02-5E9F-A9EDA6BE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DBCCB9-9708-A081-E61E-27F6D856E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th-T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F237D7-CCA7-D404-04A6-9B28C869F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905000"/>
            <a:ext cx="8763000" cy="281939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sv-SE" dirty="0"/>
              <a:t>v = 25864, extern_v = 10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Note:</a:t>
            </a:r>
          </a:p>
          <a:p>
            <a:pPr marL="457200" lvl="1" indent="0">
              <a:buNone/>
            </a:pPr>
            <a:r>
              <a:rPr lang="en-GB" dirty="0"/>
              <a:t>- V is random since we declare it without initial value.</a:t>
            </a:r>
          </a:p>
          <a:p>
            <a:pPr marL="457200" lvl="1" indent="0">
              <a:buNone/>
            </a:pPr>
            <a:r>
              <a:rPr lang="en-GB" dirty="0"/>
              <a:t>- </a:t>
            </a:r>
            <a:r>
              <a:rPr lang="en-GB" dirty="0" err="1"/>
              <a:t>extern_v</a:t>
            </a:r>
            <a:r>
              <a:rPr lang="en-GB" dirty="0"/>
              <a:t> is become the same as the one initialized before.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7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86FA5-8B5D-B57B-BCB1-F90F2186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1DFFD1-B757-3427-86B5-99C303CD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dirty="0"/>
              <a:t>Position Independent Executable </a:t>
            </a:r>
            <a:r>
              <a:rPr lang="en-GB" dirty="0"/>
              <a:t>(PIE)</a:t>
            </a:r>
            <a:endParaRPr lang="th-T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7FC6E3-E250-910A-27EA-09E8D00FB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2514600"/>
            <a:ext cx="8763000" cy="281939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sv-SE" dirty="0"/>
              <a:t>- </a:t>
            </a:r>
            <a:r>
              <a:rPr lang="th-TH" b="1" dirty="0"/>
              <a:t>PIE allows an executable to be loaded at a different virtual address each time it runs.</a:t>
            </a:r>
            <a:br>
              <a:rPr lang="th-TH" dirty="0"/>
            </a:br>
            <a:r>
              <a:rPr lang="en-GB" dirty="0"/>
              <a:t>- I</a:t>
            </a:r>
            <a:r>
              <a:rPr lang="th-TH" dirty="0"/>
              <a:t>nstead of relying heavily on </a:t>
            </a:r>
            <a:r>
              <a:rPr lang="th-TH" b="1" dirty="0"/>
              <a:t>fixed absolute addresses</a:t>
            </a:r>
            <a:r>
              <a:rPr lang="th-TH" dirty="0"/>
              <a:t>, PIE uses</a:t>
            </a:r>
            <a:r>
              <a:rPr lang="en-GB" dirty="0"/>
              <a:t> </a:t>
            </a:r>
            <a:r>
              <a:rPr lang="en-GB" b="1" dirty="0"/>
              <a:t>Po</a:t>
            </a:r>
            <a:r>
              <a:rPr lang="th-TH" b="1" dirty="0"/>
              <a:t>sition-independent / relative addressing </a:t>
            </a:r>
            <a:r>
              <a:rPr lang="en-GB" dirty="0"/>
              <a:t>using offset</a:t>
            </a:r>
            <a:r>
              <a:rPr lang="th-TH" dirty="0"/>
              <a:t> </a:t>
            </a:r>
            <a:r>
              <a:rPr lang="en-GB" dirty="0"/>
              <a:t>from pointer</a:t>
            </a:r>
            <a:r>
              <a:rPr lang="th-TH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5555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19066</TotalTime>
  <Words>235</Words>
  <Application>Microsoft Office PowerPoint</Application>
  <PresentationFormat>On-screen Show (4:3)</PresentationFormat>
  <Paragraphs>27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C storage Class</vt:lpstr>
      <vt:lpstr>Programming API Perspective: C Storage Classes</vt:lpstr>
      <vt:lpstr>Auto and Static Demonstration</vt:lpstr>
      <vt:lpstr>Output</vt:lpstr>
      <vt:lpstr>Auto and Extern Demonstration</vt:lpstr>
      <vt:lpstr>Output</vt:lpstr>
      <vt:lpstr>Position Independent Executable (PIE)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Memory Virtualization - Part 1</dc:title>
  <dc:creator>raj; Steve</dc:creator>
  <cp:lastModifiedBy>omar yusoh</cp:lastModifiedBy>
  <cp:revision>264</cp:revision>
  <cp:lastPrinted>2015-02-11T03:19:20Z</cp:lastPrinted>
  <dcterms:created xsi:type="dcterms:W3CDTF">2013-12-19T08:35:18Z</dcterms:created>
  <dcterms:modified xsi:type="dcterms:W3CDTF">2026-09-02T08:03:00Z</dcterms:modified>
  <cp:contentStatus/>
</cp:coreProperties>
</file>